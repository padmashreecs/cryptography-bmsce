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0" autoAdjust="0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911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5029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BASED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4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DECRYPTION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&amp; Network Security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 Academic Project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BMSCE  |  2024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7899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1078992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Cryptography &amp; AES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391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15568" y="2039112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Algorithm — Key Concepts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999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2999232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Round Operations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95935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5568" y="3959352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Mode of Operation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91440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66360" y="107899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87568" y="1078992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&amp; Features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187452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66360" y="20391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87568" y="2039112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283464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66360" y="2999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687568" y="2999232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Validation with CrypTool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379476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66360" y="395935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87568" y="3959352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Cryptography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931920" cy="4160520"/>
          </a:xfrm>
          <a:prstGeom prst="roundRect">
            <a:avLst>
              <a:gd name="adj" fmla="val 232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Cryptography?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26464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of securing information through encoding
</a:t>
            </a:r>
            <a:r>
              <a:rPr lang="en-US" sz="13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plaintext into unreadable ciphertext
</a:t>
            </a:r>
            <a:r>
              <a:rPr lang="en-US" sz="13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authorised parties with a secret key can decrypt
</a:t>
            </a:r>
            <a:r>
              <a:rPr lang="en-US" sz="13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modern digital security — banking, VPNs, HTTPS, messaging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AES-256?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426464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4813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Standard: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in 2001 (FIPS PUB 197)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2002536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574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encrypts &amp; decrypts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2578608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6334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Cipher: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128-bit (16-byte) blocks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3154680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20954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Size: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key — 2²⁵⁶ possible keys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3730752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1B4F7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7856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rounds of transformation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4306824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43616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known practical attacks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— Key Concepts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931920" cy="4187952"/>
          </a:xfrm>
          <a:prstGeom prst="roundRect">
            <a:avLst>
              <a:gd name="adj" fmla="val 232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32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4 State Matrix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processes data as a 4×4 grid of bytes (16 bytes = 128-bit block). Each round transforms this matrix.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2029968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12140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27048" y="2029968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1527048" y="212140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395728" y="2029968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2395728" y="212140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64408" y="2029968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212140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e9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2688336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77977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27048" y="2688336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18" name="Text 16"/>
          <p:cNvSpPr/>
          <p:nvPr/>
        </p:nvSpPr>
        <p:spPr>
          <a:xfrm>
            <a:off x="1527048" y="277977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395728" y="2688336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2395728" y="277977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64408" y="2688336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22" name="Text 20"/>
          <p:cNvSpPr/>
          <p:nvPr/>
        </p:nvSpPr>
        <p:spPr>
          <a:xfrm>
            <a:off x="3264408" y="277977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3346704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43814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527048" y="3346704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26" name="Text 24"/>
          <p:cNvSpPr/>
          <p:nvPr/>
        </p:nvSpPr>
        <p:spPr>
          <a:xfrm>
            <a:off x="1527048" y="343814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395728" y="3346704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28" name="Text 26"/>
          <p:cNvSpPr/>
          <p:nvPr/>
        </p:nvSpPr>
        <p:spPr>
          <a:xfrm>
            <a:off x="2395728" y="343814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264408" y="3346704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30" name="Text 28"/>
          <p:cNvSpPr/>
          <p:nvPr/>
        </p:nvSpPr>
        <p:spPr>
          <a:xfrm>
            <a:off x="3264408" y="343814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8368" y="4005072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40965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527048" y="4005072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34" name="Text 32"/>
          <p:cNvSpPr/>
          <p:nvPr/>
        </p:nvSpPr>
        <p:spPr>
          <a:xfrm>
            <a:off x="1527048" y="40965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395728" y="4005072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36" name="Text 34"/>
          <p:cNvSpPr/>
          <p:nvPr/>
        </p:nvSpPr>
        <p:spPr>
          <a:xfrm>
            <a:off x="2395728" y="40965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264408" y="4005072"/>
            <a:ext cx="749808" cy="530352"/>
          </a:xfrm>
          <a:prstGeom prst="roundRect">
            <a:avLst>
              <a:gd name="adj" fmla="val 8621"/>
            </a:avLst>
          </a:prstGeom>
          <a:solidFill>
            <a:srgbClr val="1B4F72"/>
          </a:solidFill>
          <a:ln/>
        </p:spPr>
      </p:sp>
      <p:sp>
        <p:nvSpPr>
          <p:cNvPr id="38" name="Text 36"/>
          <p:cNvSpPr/>
          <p:nvPr/>
        </p:nvSpPr>
        <p:spPr>
          <a:xfrm>
            <a:off x="3264408" y="40965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11480" y="4663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state[row][col] = block[row + 4×col]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804672"/>
            <a:ext cx="4206240" cy="4187952"/>
          </a:xfrm>
          <a:prstGeom prst="roundRect">
            <a:avLst>
              <a:gd name="adj" fmla="val 2183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09160" y="932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Expansion (Key Schedule)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709160" y="138988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Key: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bytes (256 bits) — 64 hex chars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09160" y="19019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Keys: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round keys derived (one per round + initial)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09160" y="241401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32-bit words (Nk = 8)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09160" y="29260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RotWord: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left-rotate 4-byte word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09160" y="34381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S-Box to each byte of word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09160" y="39502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Rcon: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with round constant (GF(2⁸) power of x)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09160" y="446227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Extra: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applied at positions i % 8 == 4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Round Operations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2084832" cy="4160520"/>
          </a:xfrm>
          <a:prstGeom prst="roundRect">
            <a:avLst>
              <a:gd name="adj" fmla="val 438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877824"/>
            <a:ext cx="530352" cy="530352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886968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2608" y="1481328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SubBytes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" y="192024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substitution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0896" y="2304288"/>
            <a:ext cx="18653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byte replaced by S-Box lookup. Provides confusion. Derived from multiplicative inverse in GF(2⁸) + affine transform.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4114800"/>
            <a:ext cx="1883664" cy="658368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" y="416966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= SBOX[old_byte]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32304" y="804672"/>
            <a:ext cx="2084832" cy="4160520"/>
          </a:xfrm>
          <a:prstGeom prst="roundRect">
            <a:avLst>
              <a:gd name="adj" fmla="val 438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77824"/>
            <a:ext cx="530352" cy="530352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886968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23744" y="1481328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ShiftRows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23744" y="192024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row shift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42032" y="2304288"/>
            <a:ext cx="18653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0: no shift  |  Row 1: ←1  |  Row 2: ←2  |  Row 3: ←3. Spreads bytes across columns for diffusion.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23744" y="4114800"/>
            <a:ext cx="1883664" cy="658368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416966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row[r] = row[r][r:] + row[r][:r]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804672"/>
            <a:ext cx="2084832" cy="4160520"/>
          </a:xfrm>
          <a:prstGeom prst="roundRect">
            <a:avLst>
              <a:gd name="adj" fmla="val 438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31536" y="877824"/>
            <a:ext cx="530352" cy="530352"/>
          </a:xfrm>
          <a:prstGeom prst="ellipse">
            <a:avLst/>
          </a:prstGeom>
          <a:solidFill>
            <a:srgbClr val="94D2BD"/>
          </a:solidFill>
          <a:ln/>
        </p:spPr>
      </p:sp>
      <p:sp>
        <p:nvSpPr>
          <p:cNvPr id="22" name="Text 20"/>
          <p:cNvSpPr/>
          <p:nvPr/>
        </p:nvSpPr>
        <p:spPr>
          <a:xfrm>
            <a:off x="5431536" y="886968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54880" y="1481328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MixColumns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192024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Column-wise linear mixing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73168" y="2304288"/>
            <a:ext cx="18653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multiplied by fixed matrix in GF(2⁸). Each output byte depends on all 4 input bytes of the column (diffusion).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4114800"/>
            <a:ext cx="1883664" cy="658368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416966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 = 2s0 ⊕ 3s1 ⊕ s2 ⊕ s3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94576" y="804672"/>
            <a:ext cx="2084832" cy="4160520"/>
          </a:xfrm>
          <a:prstGeom prst="roundRect">
            <a:avLst>
              <a:gd name="adj" fmla="val 438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62672" y="877824"/>
            <a:ext cx="530352" cy="530352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30" name="Text 28"/>
          <p:cNvSpPr/>
          <p:nvPr/>
        </p:nvSpPr>
        <p:spPr>
          <a:xfrm>
            <a:off x="7662672" y="886968"/>
            <a:ext cx="530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86016" y="1481328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AddRoundKey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86016" y="192024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with round sub-key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04304" y="2304288"/>
            <a:ext cx="18653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XOR'd with round key derived from key schedule. ONLY step that uses the secret key. XOR is self-inverse.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86016" y="4114800"/>
            <a:ext cx="1883664" cy="658368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7022592" y="416966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state[r][c] ^= rk[r][c]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01168" y="4828032"/>
            <a:ext cx="8741664" cy="201168"/>
          </a:xfrm>
          <a:prstGeom prst="roundRect">
            <a:avLst>
              <a:gd name="adj" fmla="val 27273"/>
            </a:avLst>
          </a:prstGeom>
          <a:solidFill>
            <a:srgbClr val="1B4F72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83717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Final Round (14): MixColumns is OMITTED — by AES specification design for decryption symmetry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Mode of Operation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 bytes)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1600200"/>
            <a:ext cx="0" cy="41148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11680"/>
            <a:ext cx="777240" cy="77724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2926080"/>
            <a:ext cx="0" cy="0"/>
          </a:xfrm>
          <a:prstGeom prst="line">
            <a:avLst/>
          </a:prstGeom>
          <a:noFill/>
          <a:ln w="25400">
            <a:solidFill>
              <a:srgbClr val="94D2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2400300"/>
            <a:ext cx="640080" cy="0"/>
          </a:xfrm>
          <a:prstGeom prst="line">
            <a:avLst/>
          </a:prstGeom>
          <a:noFill/>
          <a:ln w="25400">
            <a:solidFill>
              <a:srgbClr val="94D2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75688" y="201168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62850"/>
          </a:solidFill>
          <a:ln/>
        </p:spPr>
      </p:sp>
      <p:sp>
        <p:nvSpPr>
          <p:cNvPr id="14" name="Text 12"/>
          <p:cNvSpPr/>
          <p:nvPr/>
        </p:nvSpPr>
        <p:spPr>
          <a:xfrm>
            <a:off x="2075688" y="2011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67328" y="2400300"/>
            <a:ext cx="640080" cy="0"/>
          </a:xfrm>
          <a:prstGeom prst="line">
            <a:avLst/>
          </a:prstGeom>
          <a:noFill/>
          <a:ln w="25400">
            <a:solidFill>
              <a:srgbClr val="94D2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201168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1B4F72"/>
          </a:solidFill>
          <a:ln/>
        </p:spPr>
      </p:sp>
      <p:sp>
        <p:nvSpPr>
          <p:cNvPr id="17" name="Text 15"/>
          <p:cNvSpPr/>
          <p:nvPr/>
        </p:nvSpPr>
        <p:spPr>
          <a:xfrm>
            <a:off x="4407408" y="20116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61888" y="2400300"/>
            <a:ext cx="68580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43600" y="1920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next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47688" y="2011680"/>
            <a:ext cx="777240" cy="77724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21" name="Text 19"/>
          <p:cNvSpPr/>
          <p:nvPr/>
        </p:nvSpPr>
        <p:spPr>
          <a:xfrm>
            <a:off x="664768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63640" y="29260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B4F72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2926080"/>
            <a:ext cx="0" cy="0"/>
          </a:xfrm>
          <a:prstGeom prst="line">
            <a:avLst/>
          </a:prstGeom>
          <a:noFill/>
          <a:ln w="25400">
            <a:solidFill>
              <a:srgbClr val="94D2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24928" y="2400300"/>
            <a:ext cx="457200" cy="0"/>
          </a:xfrm>
          <a:prstGeom prst="line">
            <a:avLst/>
          </a:prstGeom>
          <a:noFill/>
          <a:ln w="25400">
            <a:solidFill>
              <a:srgbClr val="94D2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82128" y="2011680"/>
            <a:ext cx="1124712" cy="777240"/>
          </a:xfrm>
          <a:prstGeom prst="roundRect">
            <a:avLst>
              <a:gd name="adj" fmla="val 9412"/>
            </a:avLst>
          </a:prstGeom>
          <a:solidFill>
            <a:srgbClr val="162850"/>
          </a:solidFill>
          <a:ln/>
        </p:spPr>
      </p:sp>
      <p:sp>
        <p:nvSpPr>
          <p:cNvPr id="27" name="Text 25"/>
          <p:cNvSpPr/>
          <p:nvPr/>
        </p:nvSpPr>
        <p:spPr>
          <a:xfrm>
            <a:off x="7882128" y="2011680"/>
            <a:ext cx="1124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CT2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767328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8404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Properties  |  Storage: "&lt;iv_hex&gt;|&lt;ciphertext_hex&gt;"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16966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16-byte IV generated fresh per encryption  (os.urandom(16))
</a:t>
            </a: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is public — prepended to ciphertext output — but unique per session
</a:t>
            </a: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plaintexts → different ciphertexts (semantic security)
</a:t>
            </a: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PKCS#7 padding ensures data aligns to 16-byte block boundary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&amp;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977640" cy="4160520"/>
          </a:xfrm>
          <a:prstGeom prst="roundRect">
            <a:avLst>
              <a:gd name="adj" fmla="val 2299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aes256.py
</a:t>
            </a: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AES-256 CBC — no external crypto libs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653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crypto_utils.py
</a:t>
            </a: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password hashing + AES data encryption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auth.py
</a:t>
            </a: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signup, OTP-based 2FA Blueprint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895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
</a:t>
            </a: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models: User + ProtectedNote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routes/aes_routes.py
</a:t>
            </a: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/api/aes/encrypt, decrypt, trace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13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routes/main_routes.py
</a:t>
            </a: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routes — AES Demo &amp; Internals Explorer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256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
</a:t>
            </a: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HTML — aes_demo, aes_internals, protected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804672"/>
            <a:ext cx="4251960" cy="4160520"/>
          </a:xfrm>
          <a:prstGeom prst="roundRect">
            <a:avLst>
              <a:gd name="adj" fmla="val 2198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353312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4081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 (Application Factory pattern)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865376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1B4F7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9202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Engine: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aes256.py — zero external crypto libs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377440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4323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Flask-SQLAlchemy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889504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1B4F7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+ 16-byte random salt (stdlib only)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340156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1B4F7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4564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Jinja2, CSS, JS — AES demo + internals UI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3913632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1B4F72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9684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2FA: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one-time password via auth.py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4425696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1B4F72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4480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config — secret key, DB URI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834640" cy="4187952"/>
          </a:xfrm>
          <a:prstGeom prst="roundRect">
            <a:avLst>
              <a:gd name="adj" fmla="val 322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53312" y="877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157276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261518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+ 16-byte random salt
</a:t>
            </a: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"&lt;salt_hex&gt;$&lt;digest_hex&gt;"
</a:t>
            </a: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hmac.compare_digest() for constant-time comparison (timing attack defence)
</a:t>
            </a: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 check: Weak / Medium / Strong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18688" y="804672"/>
            <a:ext cx="2834640" cy="4187952"/>
          </a:xfrm>
          <a:prstGeom prst="roundRect">
            <a:avLst>
              <a:gd name="adj" fmla="val 322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15968" y="877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10128" y="157276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Data Encryption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28416" y="2029968"/>
            <a:ext cx="261518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sensitive field (email, notes) AES-256 CBC encrypted before DB write
</a:t>
            </a: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AES key generated per user
</a:t>
            </a: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AES key generated per note
</a:t>
            </a: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is NEVER stored on disk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804672"/>
            <a:ext cx="2834640" cy="4187952"/>
          </a:xfrm>
          <a:prstGeom prst="roundRect">
            <a:avLst>
              <a:gd name="adj" fmla="val 322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78624" y="877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72784" y="157276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Two-Factor Auth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91072" y="2029968"/>
            <a:ext cx="261518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verify identity via OTP after password login
</a:t>
            </a: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auth.py Blueprint
</a:t>
            </a: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OTP endpoint available
</a:t>
            </a: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signed via Flask SECRET_KEY (unforgeable cookie)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CrypTool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931920" cy="4187952"/>
          </a:xfrm>
          <a:prstGeom prst="roundRect">
            <a:avLst>
              <a:gd name="adj" fmla="val 2326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32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Demo Page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" y="1371600"/>
            <a:ext cx="3703320" cy="566928"/>
          </a:xfrm>
          <a:prstGeom prst="roundRect">
            <a:avLst>
              <a:gd name="adj" fmla="val 11290"/>
            </a:avLst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264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text → get AES-256 CBC ciphertext with random IV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2066544"/>
            <a:ext cx="3703320" cy="566928"/>
          </a:xfrm>
          <a:prstGeom prst="roundRect">
            <a:avLst>
              <a:gd name="adj" fmla="val 11290"/>
            </a:avLst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214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ciphertext → recover original plaintext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2761488"/>
            <a:ext cx="3703320" cy="566928"/>
          </a:xfrm>
          <a:prstGeom prst="roundRect">
            <a:avLst>
              <a:gd name="adj" fmla="val 11290"/>
            </a:avLst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8163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Trace: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state matrix after each of 14 rounds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3456432"/>
            <a:ext cx="3703320" cy="566928"/>
          </a:xfrm>
          <a:prstGeom prst="roundRect">
            <a:avLst>
              <a:gd name="adj" fmla="val 11290"/>
            </a:avLst>
          </a:prstGeom>
          <a:solidFill>
            <a:srgbClr val="1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5112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SubBytes, ShiftRows, MixColumns, Key Schedule visualised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4151376"/>
            <a:ext cx="3703320" cy="566928"/>
          </a:xfrm>
          <a:prstGeom prst="roundRect">
            <a:avLst>
              <a:gd name="adj" fmla="val 11290"/>
            </a:avLst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Data: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AES-encrypted DB records after authenticated login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804672"/>
            <a:ext cx="4251960" cy="4187952"/>
          </a:xfrm>
          <a:prstGeom prst="roundRect">
            <a:avLst>
              <a:gd name="adj" fmla="val 2183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932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CrypTool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1298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cryptool.org/en/cto/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1645920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CrypTool?
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e-learning platform for cryptography. Browser-based, no install needed.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304288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
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plaintext + key + IV entered in CrypTool → output must match our app exactly.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962656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
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Ciphertext outputs are IDENTICAL — confirms AES-256 implementation is mathematically correct.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3621024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
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CrypTool is a GUI tool; our project codes every cipher step from scratch in Python.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4279392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Scope
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adds user auth, 2FA OTP, AES-encrypted DB — features absent in CrypTool.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" y="9601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AES-256 CBC from scratch in Python — zero external crypto libraries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" y="1856232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194767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rounds: SubBytes, ShiftRows, MixColumns, AddRoundKey with full GF(2⁸) arithmetic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2608" y="2843784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293522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Expansion producing 15 round keys with RotWord, SubWord, and Rcon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608" y="3831336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" y="392277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mode with PKCS#7 padding and unique IV per encryption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64608" y="8686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74336" y="9601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random salt password hashing with constant-time comparison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64608" y="1856232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74336" y="194767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 with OTP two-factor authentication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64608" y="2843784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74336" y="293522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AES-encrypted database storage — plaintext never on disk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64608" y="3831336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2D4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74336" y="392277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CrypTool — identical ciphertext output confirmed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933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834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Based Encryption &amp; Decryption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&amp; Network Security — CRP Academic Project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86000" y="4160520"/>
            <a:ext cx="4572000" cy="685800"/>
          </a:xfrm>
          <a:prstGeom prst="roundRect">
            <a:avLst>
              <a:gd name="adj" fmla="val 16000"/>
            </a:avLst>
          </a:prstGeom>
          <a:solidFill>
            <a:srgbClr val="0A9396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0" y="4160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Viva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1212</Words>
  <Application>Microsoft Office PowerPoint</Application>
  <PresentationFormat>On-screen Show (16:9)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AES-256 Based Encryption &amp; Decryption</dc:title>
  <dc:subject>PptxGenJS Presentation</dc:subject>
  <dc:creator>Padmashree S</dc:creator>
  <cp:lastModifiedBy>saravanan Jayavelu</cp:lastModifiedBy>
  <cp:revision>4</cp:revision>
  <dcterms:created xsi:type="dcterms:W3CDTF">2026-06-14T12:28:21Z</dcterms:created>
  <dcterms:modified xsi:type="dcterms:W3CDTF">2026-06-14T16:17:44Z</dcterms:modified>
</cp:coreProperties>
</file>